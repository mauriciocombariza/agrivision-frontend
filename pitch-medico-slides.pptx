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— preparar antes de empezar.</a:t>
            </a:r>
          </a:p>
          <a:p>
            <a:r>
              <a:t>Respira. Pausa. Luego abre con voz de médico.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Vengo a presentarles un paciente.</a:t>
            </a:r>
          </a:p>
          <a:p>
            <a:r>
              <a:t>Nombre: floricultora colombiana promedio. 200 hectáreas.</a:t>
            </a:r>
          </a:p>
          <a:p>
            <a:r>
              <a:t>Exporta a Miami, Holanda, Japón. Factura cientos de millones.</a:t>
            </a:r>
          </a:p>
          <a:p>
            <a:r>
              <a:t>Síntoma principal: toma decisiones de cien millones basándose en la sensación del agrónomo.</a:t>
            </a:r>
          </a:p>
          <a:p>
            <a:r>
              <a:t>Y lo más preocupante: el paciente no sabe que está enfermo.</a:t>
            </a:r>
          </a:p>
          <a:p>
            <a:r>
              <a:t>Cree que así funciona el negocio. Cree que perder el 25% de una temporada es mala suerte.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diagnóstico es severo:</a:t>
            </a:r>
          </a:p>
          <a:p>
            <a:r>
              <a:t>CEGUERA DE DATOS AGUDA. Fase crónica.</a:t>
            </a:r>
          </a:p>
          <a:p>
            <a:r>
              <a:t>(pausa larga — decirlo despacio, con peso clínico)</a:t>
            </a:r>
          </a:p>
          <a:p>
            <a:r>
              <a:t>El paciente no sabe que está enfermo.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Hagamos la anamnesis. ¿Cómo llegó aquí el paciente?</a:t>
            </a:r>
          </a:p>
          <a:p>
            <a:r>
              <a:t>Colombia exportó USD $2.500 millones en flores en 2025. Récord histórico.</a:t>
            </a:r>
          </a:p>
          <a:p>
            <a:r>
              <a:t>Segundo exportador mundial. 200.000 familias. 10.000 hectáreas cultivadas.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año, el momento más crítico es la primera semana de febrero.</a:t>
            </a:r>
          </a:p>
          <a:p>
            <a:r>
              <a:t>Las flores colombianas para el 14 de febrero SALEN DE EL DORADO DESDE EL 1 DE FEBRERO.</a:t>
            </a:r>
          </a:p>
          <a:p>
            <a:r>
              <a:t>(pausa — este dato nadie lo sabe — es tu credibilidad de campo en una frase)</a:t>
            </a:r>
          </a:p>
          <a:p>
            <a:r>
              <a:t>No el 13. El primero.</a:t>
            </a:r>
          </a:p>
          <a:p>
            <a:r>
              <a:t>El gerente confirma con datos de HOY cuántas flores tendrá en dos semanas.</a:t>
            </a:r>
          </a:p>
          <a:p>
            <a:r>
              <a:t>Y hoy lo hace... con el ojo del agrónomo. Con un Excel. Con 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SECCIÓN DOLORAN — ritmo de comercial de televisión.</a:t>
            </a:r>
          </a:p>
          <a:p>
            <a:r>
              <a:t>Cada '¿Sí señor?' esperar que el público responda o asienta.</a:t>
            </a:r>
          </a:p>
          <a:p>
            <a:r>
              <a:t>La risa es parte del ritmo. No apresurarlo.</a:t>
            </a:r>
          </a:p>
          <a:p/>
          <a:p>
            <a:r>
              <a:t>¿Llamó al agrónomo, él caminó el lote y le dijo 'más o menos 45.000, jefe'?</a:t>
            </a:r>
          </a:p>
          <a:p>
            <a:r>
              <a:t>¿Y usted confirmó el pedido a Miami con ese 'más o menos'? — ¿Sí señor?</a:t>
            </a:r>
          </a:p>
          <a:p>
            <a:r>
              <a:t>¿El 5 de febrero descubrió que eran 38.000 y el cliente esperaba 50.000? — ¿Sí señor?</a:t>
            </a:r>
          </a:p>
          <a:p>
            <a:r>
              <a:t>¿Le apareció botritis un miércoles y para el viernes ya comió tres surcos? — ¿Sí señor?</a:t>
            </a:r>
          </a:p>
          <a:p>
            <a:r>
              <a:t>¿Tiene una secretaria que es la única que sabe dónde están todas las cajas? — ¿Sí señor?</a:t>
            </a:r>
          </a:p>
          <a:p>
            <a:r>
              <a:t>¿Solo quiere saber con certeza cuántas flores tiene? — ¿Sí señor?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Tranquilo. El cuadro clínico está claro.</a:t>
            </a:r>
          </a:p>
          <a:p>
            <a:r>
              <a:t>(bajar la voz — tono de médico que cierra el diagnóstico)</a:t>
            </a:r>
          </a:p>
          <a:p>
            <a:r>
              <a:t>El diagnóstico es: Ceguera de datos aguda. Fase crónica. Con complicaciones logísticas.</a:t>
            </a:r>
          </a:p>
          <a:p>
            <a:r>
              <a:t>Y lo mejor — tiene tratamiento.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Buenas noticias. El paciente tiene tratamiento.</a:t>
            </a:r>
          </a:p>
          <a:p>
            <a:r>
              <a:t>Yo llevo más de diez años en esos cultivos. Vi la enfermedad desde adentro.</a:t>
            </a:r>
          </a:p>
          <a:p/>
          <a:p>
            <a:r>
              <a:t>AgriVision es la plataforma de inteligencia agrícola</a:t>
            </a:r>
          </a:p>
          <a:p>
            <a:r>
              <a:t>que convierte UNA FOTO del cultivo en datos accionables — en menos de 30 segundos.</a:t>
            </a:r>
          </a:p>
          <a:p/>
          <a:p>
            <a:r>
              <a:t>(levantar el celular)</a:t>
            </a:r>
          </a:p>
          <a:p/>
          <a:p>
            <a:r>
              <a:t>UNA FOTO. DATOS REALES. EN MENOS DE 30 SEGUNDOS.</a:t>
            </a:r>
          </a:p>
          <a:p/>
          <a:p>
            <a:r>
              <a:t>No es hardware costoso. No hay que instalar sensores en el campo.</a:t>
            </a:r>
          </a:p>
          <a:p>
            <a:r>
              <a:t>Solo el celular que el técnico ya tiene en el bolsillo.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técnico de campo fotografía el lote.</a:t>
            </a:r>
          </a:p>
          <a:p>
            <a:r>
              <a:t>Visión por computadora identifica el estado fisiológico de cada planta:</a:t>
            </a:r>
          </a:p>
          <a:p>
            <a:r>
              <a:t>botón, apertura, listo para corte.</a:t>
            </a:r>
          </a:p>
          <a:p>
            <a:r>
              <a:t>El modelo proyecta cuántas flores en 7, 14 y 28 días.</a:t>
            </a:r>
          </a:p>
          <a:p>
            <a:r>
              <a:t>El gerente sabe — a finales de enero — exactamente cuántas rosas puede comprometer.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Tener el medicamento no es suficiente para construir un negocio.</a:t>
            </a:r>
          </a:p>
          <a:p>
            <a:r>
              <a:t>Cuando llegué al CEIS, tenía la cura.</a:t>
            </a:r>
          </a:p>
          <a:p>
            <a:r>
              <a:t>Lo que no tenía claro: cuánto cobrar, a quién primero, cómo demostrar que funcionaba.</a:t>
            </a:r>
          </a:p>
          <a:p>
            <a:r>
              <a:t>El CEIS me hizo la historia clínica del negocio.</a:t>
            </a:r>
          </a:p>
          <a:p>
            <a:r>
              <a:t>Descubrí que tenía suposiciones que eran más fe que ciencia. (esperar risa)</a:t>
            </a:r>
          </a:p>
          <a:p>
            <a:r>
              <a:t>LTV:CAC supera 500 a 1. Canal más eficiente: cero pesos.</a:t>
            </a:r>
          </a:p>
          <a:p>
            <a:r>
              <a:t>El CEIS no me recetó capital. Me recetó claridad.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el paciente no se trata, el pronóstico es conocido:</a:t>
            </a:r>
          </a:p>
          <a:p>
            <a:r>
              <a:t>Los competidores con datos van a ganar los contratos de exportación.</a:t>
            </a:r>
          </a:p>
          <a:p>
            <a:r>
              <a:t>Los compradores en Miami van a exigir confirmaciones precisas, no estimaciones.</a:t>
            </a:r>
          </a:p>
          <a:p>
            <a:r>
              <a:t>Ya está pasando en Kenia. En Holanda. En Israel.</a:t>
            </a:r>
          </a:p>
          <a:p>
            <a:r>
              <a:t>(pausa)</a:t>
            </a:r>
          </a:p>
          <a:p>
            <a:r>
              <a:t>Colombia tiene una ventana. No es eterna.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prescripción es simple:</a:t>
            </a:r>
          </a:p>
          <a:p>
            <a:r>
              <a:t>Un cliente de 100 hectáreas: $14 a $18 millones COP mensuales.</a:t>
            </a:r>
          </a:p>
          <a:p>
            <a:r>
              <a:t>Margen bruto &gt;70%. LTV en 36 meses: $540M COP. CAC: &lt;$1M.</a:t>
            </a:r>
          </a:p>
          <a:p>
            <a:r>
              <a:t>Diez clientes: $150M al mes. Treinta: $450M al mes.</a:t>
            </a:r>
          </a:p>
          <a:p>
            <a:r>
              <a:t>Mercado agritech en Latinoamérica: USD $10.400M para 2033. +17% anual.</a:t>
            </a:r>
          </a:p>
          <a:p>
            <a:r>
              <a:t>Colombia puede liderar ese mercado. Con flores. Con datos. Con la Sabana Norte.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objetivo final no es que el paciente deje de estar enfermo.</a:t>
            </a:r>
          </a:p>
          <a:p>
            <a:r>
              <a:t>Es que nunca más vuelva a caer.</a:t>
            </a:r>
          </a:p>
          <a:p>
            <a:r>
              <a:t>Que en 2030, el gerente de una floricultora en Tabio</a:t>
            </a:r>
          </a:p>
          <a:p>
            <a:r>
              <a:t>abra su dashboard el 20 de enero —</a:t>
            </a:r>
          </a:p>
          <a:p>
            <a:r>
              <a:t>vea que tiene 87.000 rosas listas para cortar y exportar el 1 de febrero —</a:t>
            </a:r>
          </a:p>
          <a:p>
            <a:r>
              <a:t>confirme el pedido a Miami con 94% de precisión —</a:t>
            </a:r>
          </a:p>
          <a:p>
            <a:r>
              <a:t>y no tenga que rezar.</a:t>
            </a:r>
          </a:p>
          <a:p>
            <a:r>
              <a:t>Solo datos. Solo certeza. Eso es el alta médica.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diagnóstico está hecho. El tratamiento existe.</a:t>
            </a:r>
          </a:p>
          <a:p/>
          <a:p>
            <a:r>
              <a:t>Si hay alguien en esta sala que conoce a un gerente de finca</a:t>
            </a:r>
          </a:p>
          <a:p>
            <a:r>
              <a:t>que la última temporada le salió mal — háganme la referencia.</a:t>
            </a:r>
          </a:p>
          <a:p/>
          <a:p>
            <a:r>
              <a:t>Si el CEIS tiene un programa de aceleración para startups</a:t>
            </a:r>
          </a:p>
          <a:p>
            <a:r>
              <a:t>con pacientes reales y tratamiento probado — quiero ser el primer caso clínico.</a:t>
            </a:r>
          </a:p>
          <a:p/>
          <a:p>
            <a:r>
              <a:t>(pausa — sonrisa)</a:t>
            </a:r>
          </a:p>
          <a:p>
            <a:r>
              <a:t>Segundas opiniones bienvenidas.</a:t>
            </a:r>
          </a:p>
          <a:p>
            <a:r>
              <a:t>Pero el paciente no puede esperar otra temporada mala.</a:t>
            </a:r>
          </a:p>
          <a:p/>
          <a:p>
            <a:r>
              <a:t>(pausa final — mirar al público)</a:t>
            </a:r>
          </a:p>
          <a:p>
            <a:r>
              <a:t>AgriVision. Porque 'más o menos' no es un diagnóstico.</a:t>
            </a:r>
          </a:p>
          <a:p/>
          <a:p>
            <a:r>
              <a:t>★★★  SILENCIO. NO LLENAR.  ★★★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429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15100"/>
            <a:ext cx="12188952" cy="34290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77940"/>
            <a:ext cx="12188952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sin_fondo_720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7075" y="617220"/>
            <a:ext cx="4114800" cy="7658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447" y="2057400"/>
            <a:ext cx="10970056" cy="2606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600" b="1" i="0">
                <a:solidFill>
                  <a:srgbClr val="E74C3C"/>
                </a:solidFill>
                <a:latin typeface="Poppins"/>
              </a:rPr>
              <a:t>EL MÉDICO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4800600"/>
            <a:ext cx="1097005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 i="0">
                <a:solidFill>
                  <a:srgbClr val="B0C4D8"/>
                </a:solidFill>
                <a:latin typeface="Poppins"/>
              </a:rPr>
              <a:t>Pitch CEIS 2026  ·  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5623560"/>
            <a:ext cx="10970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1">
                <a:solidFill>
                  <a:srgbClr val="F39C12"/>
                </a:solidFill>
                <a:latin typeface="Poppins"/>
              </a:rPr>
              <a:t>«Porque "más o menos" no es un diagnóstico.»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🏥   HISTORIA CLÍNICA — El paciente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668" y="1062990"/>
            <a:ext cx="5363138" cy="531495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447" y="1165860"/>
            <a:ext cx="4875580" cy="51435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Nombre: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Floricultora colombiana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200 ha · Sabana Norte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Exporta: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Miami · Holanda · Japón</a:t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/>
            </a:r>
          </a:p>
          <a:p>
            <a:pPr algn="l"/>
            <a:r>
              <a:rPr sz="1900" b="0" i="0">
                <a:solidFill>
                  <a:srgbClr val="FFFFFF"/>
                </a:solidFill>
                <a:latin typeface="Poppins"/>
              </a:rPr>
              <a:t>Factura $100M+ COP/mes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2034" y="1062990"/>
            <a:ext cx="5302194" cy="531495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25813" y="1200150"/>
            <a:ext cx="4875580" cy="617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6A8AAD"/>
                </a:solidFill>
                <a:latin typeface="Poppins"/>
              </a:rPr>
              <a:t>Síntoma principal: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3923" y="1817370"/>
            <a:ext cx="5119359" cy="24003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000" b="1" i="1">
                <a:solidFill>
                  <a:srgbClr val="F39C12"/>
                </a:solidFill>
                <a:latin typeface="Poppins"/>
              </a:rPr>
              <a:t>«Más o menos</a:t>
            </a:r>
          </a:p>
          <a:p>
            <a:pPr algn="ctr"/>
            <a:r>
              <a:rPr sz="3000" b="1" i="1">
                <a:solidFill>
                  <a:srgbClr val="F39C12"/>
                </a:solidFill>
                <a:latin typeface="Poppins"/>
              </a:rPr>
              <a:t>45.000 flores,</a:t>
            </a:r>
          </a:p>
          <a:p>
            <a:pPr algn="ctr"/>
            <a:r>
              <a:rPr sz="3000" b="1" i="1">
                <a:solidFill>
                  <a:srgbClr val="F39C12"/>
                </a:solidFill>
                <a:latin typeface="Poppins"/>
              </a:rPr>
              <a:t>jefe.»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3923" y="4354830"/>
            <a:ext cx="5119359" cy="171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Con ese dato confirma pedidos</a:t>
            </a:r>
          </a:p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de $100M COP a Miami.</a:t>
            </a:r>
          </a:p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En 2026. Con IA disponible.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0:45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668" y="342900"/>
            <a:ext cx="11457614" cy="5623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75116" y="411480"/>
            <a:ext cx="10238719" cy="822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447" y="617220"/>
            <a:ext cx="10970056" cy="3703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400" b="1" i="0">
                <a:solidFill>
                  <a:srgbClr val="FFFFFF"/>
                </a:solidFill>
                <a:latin typeface="Poppins"/>
              </a:rPr>
              <a:t>CEGUERA DE</a:t>
            </a:r>
          </a:p>
          <a:p>
            <a:pPr algn="ctr"/>
            <a:r>
              <a:rPr sz="8400" b="1" i="0">
                <a:solidFill>
                  <a:srgbClr val="FFFFFF"/>
                </a:solidFill>
                <a:latin typeface="Poppins"/>
              </a:rPr>
              <a:t>DATOS AGUDA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447" y="4251960"/>
            <a:ext cx="10970056" cy="8915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1">
                <a:solidFill>
                  <a:srgbClr val="F39C12"/>
                </a:solidFill>
                <a:latin typeface="Poppins"/>
              </a:rPr>
              <a:t>Fase crónica.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5143500"/>
            <a:ext cx="109700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i="0">
                <a:solidFill>
                  <a:srgbClr val="FFBBBB"/>
                </a:solidFill>
                <a:latin typeface="Poppins"/>
              </a:rPr>
              <a:t>El paciente no sabe que está enfermo.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116" y="5897880"/>
            <a:ext cx="10238719" cy="8229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498" y="6103620"/>
            <a:ext cx="502920" cy="5029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0:45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ANAMNESIS — Historia del sector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7558" y="891540"/>
            <a:ext cx="10970056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200" b="1" i="0">
                <a:solidFill>
                  <a:srgbClr val="F39C12"/>
                </a:solidFill>
                <a:latin typeface="Poppins"/>
              </a:rPr>
              <a:t>USD $2.500M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7558" y="3566160"/>
            <a:ext cx="10970056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100" b="0" i="0">
                <a:solidFill>
                  <a:srgbClr val="FFFFFF"/>
                </a:solidFill>
                <a:latin typeface="Poppins"/>
              </a:rPr>
              <a:t>exportados en flores  ·  Colombia 2025  ·  Récord histórico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668" y="4526280"/>
            <a:ext cx="3656685" cy="19202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668" y="4526280"/>
            <a:ext cx="365668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2ECC71"/>
                </a:solidFill>
                <a:latin typeface="Poppins"/>
              </a:rPr>
              <a:t>#2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668" y="5623560"/>
            <a:ext cx="365668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Exportador</a:t>
            </a:r>
          </a:p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mundial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7077" y="4526280"/>
            <a:ext cx="3656685" cy="19202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7077" y="4526280"/>
            <a:ext cx="365668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10.000 ha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7077" y="5623560"/>
            <a:ext cx="365668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cultivadas</a:t>
            </a:r>
          </a:p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Sabana Norte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88487" y="4526280"/>
            <a:ext cx="3656685" cy="192024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88487" y="4526280"/>
            <a:ext cx="3656685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Poppins"/>
              </a:rPr>
              <a:t>200.000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8487" y="5623560"/>
            <a:ext cx="365668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familias</a:t>
            </a:r>
          </a:p>
          <a:p>
            <a:pPr algn="ctr"/>
            <a:r>
              <a:rPr sz="1300" b="0" i="0">
                <a:solidFill>
                  <a:srgbClr val="B0C4D8"/>
                </a:solidFill>
                <a:latin typeface="Poppins"/>
              </a:rPr>
              <a:t>dependen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1:10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⏱   LÍNEA DE TIEMPO — San Valentín · El momento de la verdad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853226" y="3429000"/>
            <a:ext cx="10482498" cy="150876"/>
          </a:xfrm>
          <a:prstGeom prst="rect">
            <a:avLst/>
          </a:prstGeom>
          <a:solidFill>
            <a:srgbClr val="6A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281" y="2880360"/>
            <a:ext cx="609447" cy="11658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3779" y="1645920"/>
            <a:ext cx="170645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74C3C"/>
                </a:solidFill>
                <a:latin typeface="Roboto Mono"/>
              </a:rPr>
              <a:t>ENE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3779" y="2537460"/>
            <a:ext cx="1706453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Confirma</a:t>
            </a:r>
          </a:p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171" y="4114800"/>
            <a:ext cx="365668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E74C3C"/>
                </a:solidFill>
                <a:latin typeface="Poppins"/>
              </a:rPr>
              <a:t>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17630" y="2880360"/>
            <a:ext cx="609447" cy="11658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9127" y="1645920"/>
            <a:ext cx="170645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E67E22"/>
                </a:solidFill>
                <a:latin typeface="Roboto Mono"/>
              </a:rPr>
              <a:t>FEB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9127" y="2537460"/>
            <a:ext cx="1706453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Corte y</a:t>
            </a:r>
          </a:p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exportación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39519" y="4114800"/>
            <a:ext cx="365668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E67E22"/>
                </a:solidFill>
                <a:latin typeface="Poppins"/>
              </a:rPr>
              <a:t>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08647" y="2880360"/>
            <a:ext cx="609447" cy="1165860"/>
          </a:xfrm>
          <a:prstGeom prst="rect">
            <a:avLst/>
          </a:prstGeom>
          <a:solidFill>
            <a:srgbClr val="6A8A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0144" y="1645920"/>
            <a:ext cx="170645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6A8AAD"/>
                </a:solidFill>
                <a:latin typeface="Roboto Mono"/>
              </a:rPr>
              <a:t>FEB 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0144" y="2537460"/>
            <a:ext cx="1706453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Cadena</a:t>
            </a:r>
          </a:p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de frío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0536" y="4114800"/>
            <a:ext cx="365668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6A8AAD"/>
                </a:solidFill>
                <a:latin typeface="Poppins"/>
              </a:rPr>
              <a:t>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33995" y="2880360"/>
            <a:ext cx="609447" cy="11658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5493" y="1645920"/>
            <a:ext cx="1706453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2ECC71"/>
                </a:solidFill>
                <a:latin typeface="Roboto Mono"/>
              </a:rPr>
              <a:t>FEB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5493" y="2537460"/>
            <a:ext cx="1706453" cy="7543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En el</a:t>
            </a:r>
          </a:p>
          <a:p>
            <a:pPr algn="ctr"/>
            <a:r>
              <a:rPr sz="1200" b="0" i="0">
                <a:solidFill>
                  <a:srgbClr val="B0C4D8"/>
                </a:solidFill>
                <a:latin typeface="Poppins"/>
              </a:rPr>
              <a:t>florero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5885" y="4114800"/>
            <a:ext cx="365668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0">
                <a:solidFill>
                  <a:srgbClr val="2ECC71"/>
                </a:solidFill>
                <a:latin typeface="Poppins"/>
              </a:rPr>
              <a:t>↑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7558" y="4937760"/>
            <a:ext cx="11213835" cy="147447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337" y="4937760"/>
            <a:ext cx="10726277" cy="14744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39C12"/>
                </a:solidFill>
                <a:latin typeface="Poppins"/>
              </a:rPr>
              <a:t>El gerente confirma el 20 de enero cuántas flores tendrá el 1 de febrero</a:t>
            </a:r>
          </a:p>
          <a:p>
            <a:pPr algn="ctr"/>
            <a:r>
              <a:rPr sz="1900" b="1" i="0">
                <a:solidFill>
                  <a:srgbClr val="F39C12"/>
                </a:solidFill>
                <a:latin typeface="Poppins"/>
              </a:rPr>
              <a:t>— cuando todavía están creciendo en el campo.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1:25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E8A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★   DIAGNÓSTICO — Gerente de floricultora...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0D1B2A"/>
                </a:solidFill>
                <a:latin typeface="Poppins"/>
              </a:rPr>
              <a:t>★   DIAGNÓSTICO — Gerente de floricultora...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668" y="994409"/>
            <a:ext cx="9324548" cy="905256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994409"/>
            <a:ext cx="883699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Poppins"/>
              </a:rPr>
              <a:t>¿No sabía cuántas flores tendría el 1 de febrero?</a:t>
            </a:r>
          </a:p>
        </p:txBody>
      </p:sp>
      <p:sp>
        <p:nvSpPr>
          <p:cNvPr id="8" name="Rectangle 7"/>
          <p:cNvSpPr/>
          <p:nvPr/>
        </p:nvSpPr>
        <p:spPr>
          <a:xfrm>
            <a:off x="9873051" y="994409"/>
            <a:ext cx="1950232" cy="90525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3051" y="994409"/>
            <a:ext cx="195023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oppins"/>
              </a:rPr>
              <a:t>¿Sí señor?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668" y="2077974"/>
            <a:ext cx="9324548" cy="905256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2077974"/>
            <a:ext cx="883699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Poppins"/>
              </a:rPr>
              <a:t>¿Confirmó el pedido a Miami con un «más o menos»?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873051" y="2077974"/>
            <a:ext cx="1950232" cy="90525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3051" y="2077974"/>
            <a:ext cx="195023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oppins"/>
              </a:rPr>
              <a:t>¿Sí señor?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668" y="3161537"/>
            <a:ext cx="9324548" cy="905256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3161537"/>
            <a:ext cx="883699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Poppins"/>
              </a:rPr>
              <a:t>¿Le apareció botritis y para el viernes ya comió tres surcos?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3051" y="3161537"/>
            <a:ext cx="1950232" cy="90525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3051" y="3161537"/>
            <a:ext cx="195023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oppins"/>
              </a:rPr>
              <a:t>¿Sí señor?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668" y="4245102"/>
            <a:ext cx="9324548" cy="905256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9447" y="4245102"/>
            <a:ext cx="883699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Poppins"/>
              </a:rPr>
              <a:t>¿Tiene una secretaria que es la única que sabe dónde va todo?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3051" y="4245102"/>
            <a:ext cx="1950232" cy="90525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3051" y="4245102"/>
            <a:ext cx="195023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oppins"/>
              </a:rPr>
              <a:t>¿Sí señor?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668" y="5328666"/>
            <a:ext cx="9324548" cy="905256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447" y="5328666"/>
            <a:ext cx="8836990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  <a:latin typeface="Poppins"/>
              </a:rPr>
              <a:t>¿Solo quiere saber con certeza cuántas flores tiene?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73051" y="5328666"/>
            <a:ext cx="1950232" cy="905256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3051" y="5328666"/>
            <a:ext cx="1950232" cy="9052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Poppins"/>
              </a:rPr>
              <a:t>¿Sí señor?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2:15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6B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447" y="411480"/>
            <a:ext cx="10970056" cy="1714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  <a:latin typeface="Poppins"/>
              </a:rPr>
              <a:t>Tranquilo.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447" y="2125980"/>
            <a:ext cx="10970056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0" i="0">
                <a:solidFill>
                  <a:srgbClr val="7FDBA0"/>
                </a:solidFill>
                <a:latin typeface="Poppins"/>
              </a:rPr>
              <a:t>El cuadro clínico está claro.</a:t>
            </a:r>
          </a:p>
        </p:txBody>
      </p:sp>
      <p:sp>
        <p:nvSpPr>
          <p:cNvPr id="4" name="Rectangle 3"/>
          <p:cNvSpPr/>
          <p:nvPr/>
        </p:nvSpPr>
        <p:spPr>
          <a:xfrm>
            <a:off x="853226" y="3566160"/>
            <a:ext cx="10482498" cy="123444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005" y="3566160"/>
            <a:ext cx="999494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0">
                <a:solidFill>
                  <a:srgbClr val="F39C12"/>
                </a:solidFill>
                <a:latin typeface="Poppins"/>
              </a:rPr>
              <a:t>Ceguera de datos aguda  ·  Fase crónica  ·  Con complicaciones logísticas.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447" y="5074920"/>
            <a:ext cx="10970056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Poppins"/>
              </a:rPr>
              <a:t>Y lo mejor — tiene tratamiento.</a:t>
            </a:r>
          </a:p>
        </p:txBody>
      </p:sp>
      <p:pic>
        <p:nvPicPr>
          <p:cNvPr id="7" name="Picture 6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2498" y="137160"/>
            <a:ext cx="502920" cy="5029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2:20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AgriVision — El Tratamiento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668" y="1062990"/>
            <a:ext cx="2681569" cy="545211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87558" y="1508760"/>
            <a:ext cx="243779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400" b="0" i="0">
                <a:solidFill>
                  <a:srgbClr val="FFFFFF"/>
                </a:solidFill>
                <a:latin typeface="Poppins"/>
              </a:rPr>
              <a:t>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7558" y="3771900"/>
            <a:ext cx="2437790" cy="2606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7FDBA0"/>
                </a:solidFill>
                <a:latin typeface="Poppins"/>
              </a:rPr>
              <a:t>El celular que</a:t>
            </a:r>
          </a:p>
          <a:p>
            <a:pPr algn="ctr"/>
            <a:r>
              <a:rPr sz="1400" b="0" i="0">
                <a:solidFill>
                  <a:srgbClr val="7FDBA0"/>
                </a:solidFill>
                <a:latin typeface="Poppins"/>
              </a:rPr>
              <a:t>el técnico ya</a:t>
            </a:r>
          </a:p>
          <a:p>
            <a:pPr algn="ctr"/>
            <a:r>
              <a:rPr sz="1400" b="0" i="0">
                <a:solidFill>
                  <a:srgbClr val="7FDBA0"/>
                </a:solidFill>
                <a:latin typeface="Poppins"/>
              </a:rPr>
              <a:t>tiene en el</a:t>
            </a:r>
          </a:p>
          <a:p>
            <a:pPr algn="ctr"/>
            <a:r>
              <a:rPr sz="1400" b="0" i="0">
                <a:solidFill>
                  <a:srgbClr val="7FDBA0"/>
                </a:solidFill>
                <a:latin typeface="Poppins"/>
              </a:rPr>
              <a:t>bolsillo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4796" y="1062990"/>
            <a:ext cx="8288487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600" b="1" i="0">
                <a:solidFill>
                  <a:srgbClr val="FFFFFF"/>
                </a:solidFill>
                <a:latin typeface="Poppins"/>
              </a:rPr>
              <a:t>Una foto.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4796" y="2571750"/>
            <a:ext cx="8288487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6600" b="1" i="0">
                <a:solidFill>
                  <a:srgbClr val="F39C12"/>
                </a:solidFill>
                <a:latin typeface="Poppins"/>
              </a:rPr>
              <a:t>Datos reales.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4796" y="4046220"/>
            <a:ext cx="8288487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800" b="1" i="0">
                <a:solidFill>
                  <a:srgbClr val="2ECC71"/>
                </a:solidFill>
                <a:latin typeface="Poppins"/>
              </a:rPr>
              <a:t>En menos de 30 segundos.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4796" y="5417820"/>
            <a:ext cx="8288487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B0C4D8"/>
                </a:solidFill>
                <a:latin typeface="Poppins"/>
              </a:rPr>
              <a:t>No es hardware costoso. No hay que instalar sensores.</a:t>
            </a:r>
          </a:p>
          <a:p>
            <a:pPr algn="l"/>
            <a:r>
              <a:rPr sz="1600" b="0" i="0">
                <a:solidFill>
                  <a:srgbClr val="B0C4D8"/>
                </a:solidFill>
                <a:latin typeface="Poppins"/>
              </a:rPr>
              <a:t>Solo el celular que el técnico ya tiene.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3:00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Cómo funciona — en 30 segundos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558" y="1062990"/>
            <a:ext cx="3595740" cy="45948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502" y="1165860"/>
            <a:ext cx="3473851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Poppins"/>
              </a:rPr>
              <a:t>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502" y="2846070"/>
            <a:ext cx="3473851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2E86C1"/>
                </a:solidFill>
                <a:latin typeface="Poppins"/>
              </a:rPr>
              <a:t>1. Foto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502" y="3737610"/>
            <a:ext cx="3473851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El técnico fotografía</a:t>
            </a:r>
          </a:p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el lote desde campo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8621" y="2606040"/>
            <a:ext cx="304723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 i="0">
                <a:solidFill>
                  <a:srgbClr val="6A8AAD"/>
                </a:solidFill>
                <a:latin typeface="Poppins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48967" y="1062990"/>
            <a:ext cx="3595740" cy="45948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9912" y="1165860"/>
            <a:ext cx="3473851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Poppins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9912" y="2846070"/>
            <a:ext cx="3473851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F39C12"/>
                </a:solidFill>
                <a:latin typeface="Poppins"/>
              </a:rPr>
              <a:t>2. Análisis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9912" y="3737610"/>
            <a:ext cx="3473851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Visión por computadora:</a:t>
            </a:r>
          </a:p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botón · apertura · listo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0030" y="2606040"/>
            <a:ext cx="304723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600" b="0" i="0">
                <a:solidFill>
                  <a:srgbClr val="6A8AAD"/>
                </a:solidFill>
                <a:latin typeface="Poppi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0376" y="1062990"/>
            <a:ext cx="3595740" cy="459486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1321" y="1165860"/>
            <a:ext cx="3473851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 i="0">
                <a:solidFill>
                  <a:srgbClr val="FFFFFF"/>
                </a:solidFill>
                <a:latin typeface="Poppins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1321" y="2846070"/>
            <a:ext cx="3473851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2ECC71"/>
                </a:solidFill>
                <a:latin typeface="Poppins"/>
              </a:rPr>
              <a:t>3. Proyección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1321" y="3737610"/>
            <a:ext cx="3473851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7, 14 y 28 días:</a:t>
            </a:r>
          </a:p>
          <a:p>
            <a:pPr algn="ctr"/>
            <a:r>
              <a:rPr sz="1500" b="0" i="0">
                <a:solidFill>
                  <a:srgbClr val="B0C4D8"/>
                </a:solidFill>
                <a:latin typeface="Poppins"/>
              </a:rPr>
              <a:t>cuántas flores disponibles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7558" y="5760720"/>
            <a:ext cx="11213835" cy="78867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337" y="5760720"/>
            <a:ext cx="107262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F39C12"/>
                </a:solidFill>
                <a:latin typeface="Poppins"/>
              </a:rPr>
              <a:t>Resultado: el gerente sabe el 20 de enero cuántas rosas puede comprometer para el 1 de febrero.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3:20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El CEIS — El Especialista que Faltaba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668" y="1062990"/>
            <a:ext cx="5363138" cy="510921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668" y="1062990"/>
            <a:ext cx="536313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E74C3C"/>
                </a:solidFill>
                <a:latin typeface="Poppins"/>
              </a:rPr>
              <a:t>Antes del CEIS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1851660"/>
            <a:ext cx="48755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✓  Tenía la cura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✗  No sabía cuánto cobrar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✗  No sabía a quién primero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✗  Suposiciones con fe,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    no con ciencia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144" y="1062990"/>
            <a:ext cx="5363138" cy="510921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0144" y="1062990"/>
            <a:ext cx="536313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  <a:latin typeface="Poppins"/>
              </a:rPr>
              <a:t>Con el CEIS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3923" y="1851660"/>
            <a:ext cx="48755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✓  Business + Lean Canvas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✓  Cliente ideal identificado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✓  LTV : CAC  →  500 : 1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✓  Canal más eficiente:</a:t>
            </a:r>
          </a:p>
          <a:p>
            <a:pPr algn="l"/>
            <a:r>
              <a:rPr sz="1800" b="0" i="0">
                <a:solidFill>
                  <a:srgbClr val="FFFFFF"/>
                </a:solidFill>
                <a:latin typeface="Poppins"/>
              </a:rPr>
              <a:t>    cero pesos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447" y="6240780"/>
            <a:ext cx="1097005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 i="1">
                <a:solidFill>
                  <a:srgbClr val="F39C12"/>
                </a:solidFill>
                <a:latin typeface="Poppins"/>
              </a:rPr>
              <a:t>«El CEIS no me recetó capital. Me recetó claridad.»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4:05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⚠   PRONÓSTICO SIN TRATAMIENTO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447" y="1165860"/>
            <a:ext cx="3412906" cy="260604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447" y="1303020"/>
            <a:ext cx="341290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Poppins"/>
              </a:rPr>
              <a:t>🇰🇪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447" y="2743200"/>
            <a:ext cx="341290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B0C4D8"/>
                </a:solidFill>
                <a:latin typeface="Poppins"/>
              </a:rPr>
              <a:t>Kenia</a:t>
            </a:r>
          </a:p>
        </p:txBody>
      </p:sp>
      <p:sp>
        <p:nvSpPr>
          <p:cNvPr id="8" name="Rectangle 7"/>
          <p:cNvSpPr/>
          <p:nvPr/>
        </p:nvSpPr>
        <p:spPr>
          <a:xfrm>
            <a:off x="4448967" y="1165860"/>
            <a:ext cx="3412906" cy="260604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48967" y="1303020"/>
            <a:ext cx="341290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Poppins"/>
              </a:rPr>
              <a:t>🇳🇱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8967" y="2743200"/>
            <a:ext cx="341290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B0C4D8"/>
                </a:solidFill>
                <a:latin typeface="Poppins"/>
              </a:rPr>
              <a:t>Holanda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8487" y="1165860"/>
            <a:ext cx="3412906" cy="260604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88487" y="1303020"/>
            <a:ext cx="341290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000" b="0" i="0">
                <a:solidFill>
                  <a:srgbClr val="FFFFFF"/>
                </a:solidFill>
                <a:latin typeface="Poppins"/>
              </a:rPr>
              <a:t>🇮🇱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8487" y="2743200"/>
            <a:ext cx="3412906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 i="0">
                <a:solidFill>
                  <a:srgbClr val="B0C4D8"/>
                </a:solidFill>
                <a:latin typeface="Poppins"/>
              </a:rPr>
              <a:t>Israel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" y="4114800"/>
            <a:ext cx="10970056" cy="617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Poppins"/>
              </a:rPr>
              <a:t>Ya están operando con datos de precisión.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" y="4869180"/>
            <a:ext cx="10970056" cy="1611630"/>
          </a:xfrm>
          <a:prstGeom prst="rect">
            <a:avLst/>
          </a:prstGeom>
          <a:solidFill>
            <a:srgbClr val="2A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3226" y="4869180"/>
            <a:ext cx="10482498" cy="16116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i="0">
                <a:solidFill>
                  <a:srgbClr val="F39C12"/>
                </a:solidFill>
                <a:latin typeface="Poppins"/>
              </a:rPr>
              <a:t>Colombia tiene una ventana.</a:t>
            </a:r>
          </a:p>
          <a:p>
            <a:pPr algn="ctr"/>
            <a:r>
              <a:rPr sz="4000" b="1" i="0">
                <a:solidFill>
                  <a:srgbClr val="F39C12"/>
                </a:solidFill>
                <a:latin typeface="Poppins"/>
              </a:rPr>
              <a:t>No es eterna.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4:20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7D3C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💊   PRESCRIPCIÓN — Los números del tratamiento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668" y="1062990"/>
            <a:ext cx="5363138" cy="264033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668" y="1062990"/>
            <a:ext cx="536313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 i="0">
                <a:solidFill>
                  <a:srgbClr val="7D3C98"/>
                </a:solidFill>
                <a:latin typeface="Poppins"/>
              </a:rPr>
              <a:t>LTV : CAC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668" y="1748790"/>
            <a:ext cx="536313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800" b="1" i="0">
                <a:solidFill>
                  <a:srgbClr val="F39C12"/>
                </a:solidFill>
                <a:latin typeface="Poppins"/>
              </a:rPr>
              <a:t>500 :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460144" y="1062990"/>
            <a:ext cx="5363138" cy="264033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03923" y="1303020"/>
            <a:ext cx="280345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Poppins"/>
              </a:rPr>
              <a:t>1 cliente · 100 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46437" y="1303020"/>
            <a:ext cx="22549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2ECC71"/>
                </a:solidFill>
                <a:latin typeface="Roboto Mono"/>
              </a:rPr>
              <a:t>$14–18M COP/mes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3923" y="2084832"/>
            <a:ext cx="280345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Poppins"/>
              </a:rPr>
              <a:t>10 clientes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46437" y="2084832"/>
            <a:ext cx="22549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2ECC71"/>
                </a:solidFill>
                <a:latin typeface="Roboto Mono"/>
              </a:rPr>
              <a:t>$150M COP/mes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3923" y="2866644"/>
            <a:ext cx="2803458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Poppins"/>
              </a:rPr>
              <a:t>30 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46437" y="2866644"/>
            <a:ext cx="2254956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600" b="1" i="0">
                <a:solidFill>
                  <a:srgbClr val="2ECC71"/>
                </a:solidFill>
                <a:latin typeface="Roboto Mono"/>
              </a:rPr>
              <a:t>$450M COP/mes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668" y="3943349"/>
            <a:ext cx="10970056" cy="1131570"/>
          </a:xfrm>
          <a:prstGeom prst="rect">
            <a:avLst/>
          </a:prstGeom>
          <a:solidFill>
            <a:srgbClr val="1C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447" y="3943349"/>
            <a:ext cx="10482498" cy="11315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oppins"/>
              </a:rPr>
              <a:t>Mercado AgriTech Latinoamérica  ·  USD $10.400M para 2033  ·  +17% anual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668" y="5177790"/>
            <a:ext cx="10970056" cy="123444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447" y="5177790"/>
            <a:ext cx="10482498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7FDBA0"/>
                </a:solidFill>
                <a:latin typeface="Poppins"/>
              </a:rPr>
              <a:t>Margen bruto  &gt;70%   ·   LTV 36 meses: $540M COP / cliente   ·   CAC  &lt;$1M COP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4:45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5725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" y="82296"/>
            <a:ext cx="594360" cy="594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36060" y="0"/>
            <a:ext cx="8654155" cy="8572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Poppins"/>
              </a:rPr>
              <a:t>🏥   ALTA MÉDICA — La Visión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668" y="1062990"/>
            <a:ext cx="10970056" cy="449199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447" y="1234440"/>
            <a:ext cx="4266133" cy="2057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8800" b="1" i="0">
                <a:solidFill>
                  <a:srgbClr val="3DBA6E"/>
                </a:solidFill>
                <a:latin typeface="Poppins"/>
              </a:rPr>
              <a:t>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41249" y="1234440"/>
            <a:ext cx="5850696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 i="0">
                <a:solidFill>
                  <a:srgbClr val="FFFFFF"/>
                </a:solidFill>
                <a:latin typeface="Poppins"/>
              </a:rPr>
              <a:t>El gerente en Tabio</a:t>
            </a:r>
          </a:p>
          <a:p>
            <a:pPr algn="l"/>
            <a:r>
              <a:rPr sz="2100" b="0" i="0">
                <a:solidFill>
                  <a:srgbClr val="FFFFFF"/>
                </a:solidFill>
                <a:latin typeface="Poppins"/>
              </a:rPr>
              <a:t>abre su dashboard</a:t>
            </a:r>
          </a:p>
          <a:p>
            <a:pPr algn="l"/>
            <a:r>
              <a:rPr sz="2100" b="0" i="0">
                <a:solidFill>
                  <a:srgbClr val="FFFFFF"/>
                </a:solidFill>
                <a:latin typeface="Poppins"/>
              </a:rPr>
              <a:t>el 20 de enero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447" y="3291840"/>
            <a:ext cx="487558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2ECC71"/>
                </a:solidFill>
                <a:latin typeface="Poppins"/>
              </a:rPr>
              <a:t>87.000 rosas</a:t>
            </a:r>
          </a:p>
          <a:p>
            <a:pPr algn="l"/>
            <a:r>
              <a:rPr sz="2400" b="1" i="0">
                <a:solidFill>
                  <a:srgbClr val="2ECC71"/>
                </a:solidFill>
                <a:latin typeface="Poppins"/>
              </a:rPr>
              <a:t>listas para cortar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3923" y="3291840"/>
            <a:ext cx="4388022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
                  <a:srgbClr val="F39C12"/>
                </a:solidFill>
                <a:latin typeface="Poppins"/>
              </a:rPr>
              <a:t>Confirma a Miami</a:t>
            </a:r>
          </a:p>
          <a:p>
            <a:pPr algn="l"/>
            <a:r>
              <a:rPr sz="2400" b="1" i="0">
                <a:solidFill>
                  <a:srgbClr val="F39C12"/>
                </a:solidFill>
                <a:latin typeface="Poppins"/>
              </a:rPr>
              <a:t>con 94% de precisión.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668" y="5623560"/>
            <a:ext cx="10970056" cy="92583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447" y="5623560"/>
            <a:ext cx="10482498" cy="9258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oppins"/>
              </a:rPr>
              <a:t>No tiene que rezar.     Solo datos.     Solo certeza.     Eso es el alta médica.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5:05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49390"/>
            <a:ext cx="12188952" cy="308610"/>
          </a:xfrm>
          <a:prstGeom prst="rect">
            <a:avLst/>
          </a:prstGeom>
          <a:solidFill>
            <a:srgbClr val="0A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447" y="6549390"/>
            <a:ext cx="10970056" cy="308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0" i="0">
                <a:solidFill>
                  <a:srgbClr val="6A8AAD"/>
                </a:solidFill>
                <a:latin typeface="Roboto Mono"/>
              </a:rPr>
              <a:t>DATOS DEL CAMPO. DECISIONES ACERTADAS.  ·  combariza.com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668" y="274320"/>
            <a:ext cx="10970056" cy="1851660"/>
          </a:xfrm>
          <a:prstGeom prst="rect">
            <a:avLst/>
          </a:prstGeom>
          <a:solidFill>
            <a:srgbClr val="1E4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337" y="274320"/>
            <a:ext cx="10238719" cy="18516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  <a:latin typeface="Poppins"/>
              </a:rPr>
              <a:t>Si conoces un gerente cuya última temporada salió mal</a:t>
            </a:r>
          </a:p>
          <a:p>
            <a:pPr algn="l"/>
            <a:r>
              <a:rPr sz="2200" b="0" i="0">
                <a:solidFill>
                  <a:srgbClr val="FFFFFF"/>
                </a:solidFill>
                <a:latin typeface="Poppins"/>
              </a:rPr>
              <a:t>→  háganme la referencia.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668" y="2297430"/>
            <a:ext cx="10970056" cy="133731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337" y="2297430"/>
            <a:ext cx="10238719" cy="13373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Poppins"/>
              </a:rPr>
              <a:t>Si el CEIS tiene un programa para startups con pacientes reales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Poppins"/>
              </a:rPr>
              <a:t>y tratamiento probado  →  quiero ser el primer caso clínico.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3806190"/>
            <a:ext cx="12188952" cy="3051810"/>
          </a:xfrm>
          <a:prstGeom prst="rect">
            <a:avLst/>
          </a:prstGeom>
          <a:solidFill>
            <a:srgbClr val="1B6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447" y="3909059"/>
            <a:ext cx="10970056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7600" b="1" i="0">
                <a:solidFill>
                  <a:srgbClr val="FFFFFF"/>
                </a:solidFill>
                <a:latin typeface="Poppins"/>
              </a:rPr>
              <a:t>AgriVision.</a:t>
            </a:r>
          </a:p>
        </p:txBody>
      </p:sp>
      <p:pic>
        <p:nvPicPr>
          <p:cNvPr id="8" name="Picture 7" descr="icono_transparente_256p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4940" y="3943349"/>
            <a:ext cx="731520" cy="7315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447" y="5486400"/>
            <a:ext cx="10970056" cy="11658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 i="1">
                <a:solidFill>
                  <a:srgbClr val="F39C12"/>
                </a:solidFill>
                <a:latin typeface="Poppins"/>
              </a:rPr>
              <a:t>«Porque "más o menos" no es un diagnóstico.»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33995" y="205740"/>
            <a:ext cx="2011177" cy="7886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700" b="1" i="0">
                <a:solidFill>
                  <a:srgbClr val="0D1B2A"/>
                </a:solidFill>
                <a:latin typeface="Roboto Mono"/>
              </a:rPr>
              <a:t>⏱  5:20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